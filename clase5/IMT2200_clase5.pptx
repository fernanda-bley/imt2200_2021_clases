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10"/>
  </p:notesMasterIdLst>
  <p:sldIdLst>
    <p:sldId id="259" r:id="rId2"/>
    <p:sldId id="719" r:id="rId3"/>
    <p:sldId id="720" r:id="rId4"/>
    <p:sldId id="722" r:id="rId5"/>
    <p:sldId id="721" r:id="rId6"/>
    <p:sldId id="707" r:id="rId7"/>
    <p:sldId id="723" r:id="rId8"/>
    <p:sldId id="71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3F2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8"/>
    <p:restoredTop sz="94694"/>
  </p:normalViewPr>
  <p:slideViewPr>
    <p:cSldViewPr snapToGrid="0" snapToObjects="1">
      <p:cViewPr varScale="1">
        <p:scale>
          <a:sx n="156" d="100"/>
          <a:sy n="156" d="100"/>
        </p:scale>
        <p:origin x="8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F128D-05F6-C944-B609-D31F7E7F2AB3}" type="datetimeFigureOut">
              <a:rPr lang="es-CL" smtClean="0"/>
              <a:t>23-06-21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09A0A-5D3B-9B49-BEA4-F480919388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94451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s-CL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175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s-CL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6678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s-CL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341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s-CL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2930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s-CL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7250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s-CL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0402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s-CL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2154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37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C04-5D1E-754B-B1B9-EFFEB499B473}" type="datetimeFigureOut">
              <a:rPr lang="es-CL" smtClean="0"/>
              <a:t>23-06-21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B60C-0792-1044-A73F-9B2542E51B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148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27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C04-5D1E-754B-B1B9-EFFEB499B473}" type="datetimeFigureOut">
              <a:rPr lang="es-CL" smtClean="0"/>
              <a:t>23-06-21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B60C-0792-1044-A73F-9B2542E51B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94407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C04-5D1E-754B-B1B9-EFFEB499B473}" type="datetimeFigureOut">
              <a:rPr lang="es-CL" smtClean="0"/>
              <a:t>23-06-21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B60C-0792-1044-A73F-9B2542E51B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41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C04-5D1E-754B-B1B9-EFFEB499B473}" type="datetimeFigureOut">
              <a:rPr lang="es-CL" smtClean="0"/>
              <a:t>23-06-21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B60C-0792-1044-A73F-9B2542E51B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18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C04-5D1E-754B-B1B9-EFFEB499B473}" type="datetimeFigureOut">
              <a:rPr lang="es-CL" smtClean="0"/>
              <a:t>23-06-21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B60C-0792-1044-A73F-9B2542E51B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6496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C04-5D1E-754B-B1B9-EFFEB499B473}" type="datetimeFigureOut">
              <a:rPr lang="es-CL" smtClean="0"/>
              <a:t>23-06-21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B60C-0792-1044-A73F-9B2542E51B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9435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959" y="342900"/>
            <a:ext cx="4093840" cy="718571"/>
          </a:xfrm>
        </p:spPr>
        <p:txBody>
          <a:bodyPr anchor="b">
            <a:noAutofit/>
          </a:bodyPr>
          <a:lstStyle>
            <a:lvl1pPr>
              <a:defRPr sz="1800" b="1" i="0" spc="300">
                <a:latin typeface="Montserrat" pitchFamily="2" charset="77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243EF382-387D-7244-A3B2-F11F7C48D80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4959" y="1193800"/>
            <a:ext cx="4093840" cy="3771900"/>
          </a:xfrm>
        </p:spPr>
        <p:txBody>
          <a:bodyPr/>
          <a:lstStyle>
            <a:lvl1pPr>
              <a:defRPr sz="16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>
              <a:defRPr sz="14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2pPr>
            <a:lvl3pPr>
              <a:defRPr sz="12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3pPr>
            <a:lvl4pPr>
              <a:defRPr sz="11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>
              <a:defRPr sz="11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717F1D-B6A3-064C-9A0A-27F514C290E8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1F3F2"/>
          </a:solidFill>
        </p:spPr>
        <p:txBody>
          <a:bodyPr wrap="square" rtlCol="0" anchor="ctr">
            <a:spAutoFit/>
          </a:bodyPr>
          <a:lstStyle/>
          <a:p>
            <a:pPr marL="85723" indent="0" algn="r">
              <a:buNone/>
            </a:pPr>
            <a:endParaRPr lang="es-CL" sz="1200" dirty="0" err="1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7C43ED15-A831-F442-A3C8-84060B550378}"/>
              </a:ext>
            </a:extLst>
          </p:cNvPr>
          <p:cNvSpPr/>
          <p:nvPr userDrawn="1"/>
        </p:nvSpPr>
        <p:spPr>
          <a:xfrm>
            <a:off x="4" y="-1"/>
            <a:ext cx="9143997" cy="5143501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4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DB49A6-E959-814D-92C3-C9755B4D32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2950" y="2343150"/>
            <a:ext cx="7767637" cy="971551"/>
          </a:xfrm>
        </p:spPr>
        <p:txBody>
          <a:bodyPr anchor="b">
            <a:normAutofit/>
          </a:bodyPr>
          <a:lstStyle>
            <a:lvl1pPr>
              <a:defRPr sz="3000" b="1" i="0" spc="225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DB7B3C-BB52-BC48-B838-32FE78D0CB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7589" y="3461148"/>
            <a:ext cx="7782998" cy="425053"/>
          </a:xfrm>
        </p:spPr>
        <p:txBody>
          <a:bodyPr/>
          <a:lstStyle>
            <a:lvl1pPr marL="0" indent="0">
              <a:buNone/>
              <a:defRPr sz="1800" spc="225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cxnSp>
        <p:nvCxnSpPr>
          <p:cNvPr id="8" name="Straight Connector 3">
            <a:extLst>
              <a:ext uri="{FF2B5EF4-FFF2-40B4-BE49-F238E27FC236}">
                <a16:creationId xmlns:a16="http://schemas.microsoft.com/office/drawing/2014/main" id="{6CDC1945-142B-224D-8354-AF96E6A38A6E}"/>
              </a:ext>
            </a:extLst>
          </p:cNvPr>
          <p:cNvCxnSpPr>
            <a:cxnSpLocks/>
          </p:cNvCxnSpPr>
          <p:nvPr userDrawn="1"/>
        </p:nvCxnSpPr>
        <p:spPr>
          <a:xfrm flipV="1">
            <a:off x="651389" y="2228849"/>
            <a:ext cx="0" cy="9720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BE897543-D026-554D-ADE1-A202D1F1FE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695825" y="279798"/>
            <a:ext cx="3814761" cy="425053"/>
          </a:xfrm>
        </p:spPr>
        <p:txBody>
          <a:bodyPr>
            <a:noAutofit/>
          </a:bodyPr>
          <a:lstStyle>
            <a:lvl1pPr marL="0" indent="0" algn="r">
              <a:buNone/>
              <a:defRPr sz="900" spc="4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3977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2">
            <a:extLst>
              <a:ext uri="{FF2B5EF4-FFF2-40B4-BE49-F238E27FC236}">
                <a16:creationId xmlns:a16="http://schemas.microsoft.com/office/drawing/2014/main" id="{907A136D-99C2-D644-AACA-B77AE2371564}"/>
              </a:ext>
            </a:extLst>
          </p:cNvPr>
          <p:cNvSpPr/>
          <p:nvPr userDrawn="1"/>
        </p:nvSpPr>
        <p:spPr>
          <a:xfrm>
            <a:off x="2382" y="0"/>
            <a:ext cx="9141619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4"/>
          </a:p>
        </p:txBody>
      </p:sp>
      <p:sp>
        <p:nvSpPr>
          <p:cNvPr id="19" name="Título 18">
            <a:extLst>
              <a:ext uri="{FF2B5EF4-FFF2-40B4-BE49-F238E27FC236}">
                <a16:creationId xmlns:a16="http://schemas.microsoft.com/office/drawing/2014/main" id="{8DCAD506-A5A7-544A-BB37-ADBB520344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855" y="3065317"/>
            <a:ext cx="8511032" cy="633845"/>
          </a:xfrm>
        </p:spPr>
        <p:txBody>
          <a:bodyPr>
            <a:noAutofit/>
          </a:bodyPr>
          <a:lstStyle>
            <a:lvl1pPr>
              <a:defRPr sz="2700" b="1" i="0" spc="225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BC7F6700-5040-214C-8470-36FF224322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4854" y="3773866"/>
            <a:ext cx="8511033" cy="360760"/>
          </a:xfrm>
        </p:spPr>
        <p:txBody>
          <a:bodyPr>
            <a:normAutofit/>
          </a:bodyPr>
          <a:lstStyle>
            <a:lvl1pPr marL="0" indent="0">
              <a:buNone/>
              <a:defRPr sz="2100" spc="225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2pPr>
            <a:lvl3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3pPr>
            <a:lvl4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22" name="Marcador de texto 20">
            <a:extLst>
              <a:ext uri="{FF2B5EF4-FFF2-40B4-BE49-F238E27FC236}">
                <a16:creationId xmlns:a16="http://schemas.microsoft.com/office/drawing/2014/main" id="{FEABE18D-894E-8B49-92B6-0AC8CA8EE9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4854" y="1571002"/>
            <a:ext cx="4759037" cy="507180"/>
          </a:xfrm>
        </p:spPr>
        <p:txBody>
          <a:bodyPr>
            <a:noAutofit/>
          </a:bodyPr>
          <a:lstStyle>
            <a:lvl1pPr marL="0" indent="0">
              <a:buNone/>
              <a:defRPr sz="2100" b="1" i="0" spc="225">
                <a:solidFill>
                  <a:schemeClr val="bg1"/>
                </a:solidFill>
                <a:latin typeface="Montserrat SemiBold" pitchFamily="2" charset="77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2pPr>
            <a:lvl3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3pPr>
            <a:lvl4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75345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userDrawn="1">
  <p:cSld name="1_Solo el títul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>
            <a:spLocks noGrp="1"/>
          </p:cNvSpPr>
          <p:nvPr>
            <p:ph type="title"/>
          </p:nvPr>
        </p:nvSpPr>
        <p:spPr>
          <a:xfrm>
            <a:off x="250899" y="131341"/>
            <a:ext cx="8619969" cy="37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Century Gothic" panose="020B0502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grpSp>
        <p:nvGrpSpPr>
          <p:cNvPr id="6" name="Google Shape;115;p19">
            <a:extLst>
              <a:ext uri="{FF2B5EF4-FFF2-40B4-BE49-F238E27FC236}">
                <a16:creationId xmlns:a16="http://schemas.microsoft.com/office/drawing/2014/main" id="{DD29DDED-0672-4349-B164-F00B934AB1B9}"/>
              </a:ext>
            </a:extLst>
          </p:cNvPr>
          <p:cNvGrpSpPr/>
          <p:nvPr userDrawn="1"/>
        </p:nvGrpSpPr>
        <p:grpSpPr>
          <a:xfrm>
            <a:off x="-2" y="5070701"/>
            <a:ext cx="9144000" cy="72800"/>
            <a:chOff x="-2" y="5073080"/>
            <a:chExt cx="9144000" cy="97067"/>
          </a:xfrm>
        </p:grpSpPr>
        <p:sp>
          <p:nvSpPr>
            <p:cNvPr id="7" name="Google Shape;116;p19">
              <a:extLst>
                <a:ext uri="{FF2B5EF4-FFF2-40B4-BE49-F238E27FC236}">
                  <a16:creationId xmlns:a16="http://schemas.microsoft.com/office/drawing/2014/main" id="{ADAD2A7E-CE79-C344-AE92-FDF958AF9C54}"/>
                </a:ext>
              </a:extLst>
            </p:cNvPr>
            <p:cNvSpPr/>
            <p:nvPr/>
          </p:nvSpPr>
          <p:spPr>
            <a:xfrm rot="5400000">
              <a:off x="3756078" y="1317000"/>
              <a:ext cx="97067" cy="7609226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" name="Google Shape;117;p19">
              <a:extLst>
                <a:ext uri="{FF2B5EF4-FFF2-40B4-BE49-F238E27FC236}">
                  <a16:creationId xmlns:a16="http://schemas.microsoft.com/office/drawing/2014/main" id="{59EB6FC0-1CA9-F144-9A7F-E77290FDB243}"/>
                </a:ext>
              </a:extLst>
            </p:cNvPr>
            <p:cNvSpPr/>
            <p:nvPr/>
          </p:nvSpPr>
          <p:spPr>
            <a:xfrm rot="5400000">
              <a:off x="5290852" y="1317000"/>
              <a:ext cx="97067" cy="7609226"/>
            </a:xfrm>
            <a:prstGeom prst="rect">
              <a:avLst/>
            </a:prstGeom>
            <a:solidFill>
              <a:srgbClr val="FFC9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9" name="Google Shape;119;p19">
            <a:extLst>
              <a:ext uri="{FF2B5EF4-FFF2-40B4-BE49-F238E27FC236}">
                <a16:creationId xmlns:a16="http://schemas.microsoft.com/office/drawing/2014/main" id="{9DCD0857-34BD-114F-AB8F-959D07956F0B}"/>
              </a:ext>
            </a:extLst>
          </p:cNvPr>
          <p:cNvCxnSpPr/>
          <p:nvPr userDrawn="1"/>
        </p:nvCxnSpPr>
        <p:spPr>
          <a:xfrm rot="10800000">
            <a:off x="250899" y="507671"/>
            <a:ext cx="8452199" cy="0"/>
          </a:xfrm>
          <a:prstGeom prst="straightConnector1">
            <a:avLst/>
          </a:prstGeom>
          <a:noFill/>
          <a:ln w="28575" cap="flat" cmpd="sng">
            <a:solidFill>
              <a:srgbClr val="FFC9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29;p28">
            <a:extLst>
              <a:ext uri="{FF2B5EF4-FFF2-40B4-BE49-F238E27FC236}">
                <a16:creationId xmlns:a16="http://schemas.microsoft.com/office/drawing/2014/main" id="{E89C6BED-ABEA-8C40-A4BD-A6E47F1C2C6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50898" y="756588"/>
            <a:ext cx="8619968" cy="4026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itchFamily="2" charset="2"/>
              <a:buChar char="v"/>
              <a:defRPr sz="1500">
                <a:latin typeface="Century Gothic" panose="020B0502020202020204" pitchFamily="34" charset="0"/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1864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54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4" r:id="rId10"/>
    <p:sldLayoutId id="2147483649" r:id="rId11"/>
    <p:sldLayoutId id="214748367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416D7-0131-7143-B5B0-F3B1D440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FUENTES DE DATOS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296889-CAA9-2C48-95DA-AA89961A3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CLASE 5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2C7894-21C3-0347-8F34-58F7DAB1222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410075" y="279798"/>
            <a:ext cx="4100511" cy="425053"/>
          </a:xfrm>
        </p:spPr>
        <p:txBody>
          <a:bodyPr/>
          <a:lstStyle/>
          <a:p>
            <a:r>
              <a:rPr lang="es-CL" dirty="0"/>
              <a:t>IMT2200</a:t>
            </a:r>
          </a:p>
          <a:p>
            <a:r>
              <a:rPr lang="es-CL" dirty="0"/>
              <a:t>INTRODUCCIÓN A CIENCIA DE DATOS</a:t>
            </a:r>
          </a:p>
          <a:p>
            <a:r>
              <a:rPr lang="es-CL" dirty="0"/>
              <a:t>2021-2</a:t>
            </a:r>
          </a:p>
        </p:txBody>
      </p:sp>
    </p:spTree>
    <p:extLst>
      <p:ext uri="{BB962C8B-B14F-4D97-AF65-F5344CB8AC3E}">
        <p14:creationId xmlns:p14="http://schemas.microsoft.com/office/powerpoint/2010/main" val="3325606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F8A7692-25D2-934D-A80D-B52E20C6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Data en la Web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FEE7672-57D8-C647-8BBB-15AB34DB75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31173" y="756588"/>
            <a:ext cx="6464977" cy="4026174"/>
          </a:xfrm>
        </p:spPr>
        <p:txBody>
          <a:bodyPr>
            <a:normAutofit/>
          </a:bodyPr>
          <a:lstStyle/>
          <a:p>
            <a:pPr>
              <a:buClr>
                <a:schemeClr val="accent4"/>
              </a:buClr>
            </a:pPr>
            <a:r>
              <a:rPr lang="es-CL" sz="1350" dirty="0">
                <a:latin typeface="Montserrat" pitchFamily="2" charset="77"/>
              </a:rPr>
              <a:t>Muchos datos de interés están publicados o disponibles en la Web.</a:t>
            </a:r>
          </a:p>
          <a:p>
            <a:pPr lvl="1"/>
            <a:r>
              <a:rPr lang="es-CL" sz="1350" dirty="0">
                <a:latin typeface="Montserrat" pitchFamily="2" charset="77"/>
              </a:rPr>
              <a:t>Codificación de la descarga y extracción </a:t>
            </a:r>
            <a:r>
              <a:rPr lang="es-CL" sz="1350" dirty="0">
                <a:latin typeface="Montserrat" pitchFamily="2" charset="77"/>
                <a:sym typeface="Wingdings" pitchFamily="2" charset="2"/>
              </a:rPr>
              <a:t> reproducibilidad, escalabilidad</a:t>
            </a:r>
          </a:p>
          <a:p>
            <a:pPr lvl="1"/>
            <a:endParaRPr lang="es-CL" sz="1350" dirty="0">
              <a:latin typeface="Montserrat" pitchFamily="2" charset="77"/>
              <a:sym typeface="Wingdings" pitchFamily="2" charset="2"/>
            </a:endParaRPr>
          </a:p>
          <a:p>
            <a:pPr>
              <a:buClr>
                <a:schemeClr val="accent4"/>
              </a:buClr>
            </a:pPr>
            <a:r>
              <a:rPr lang="es-CL" sz="1350" b="1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URL: 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apertura y descarga de datos a partir de Universal </a:t>
            </a: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Resources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</a:t>
            </a: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Locator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s-CL" sz="1350" dirty="0">
                <a:latin typeface="Calibri" panose="020F0502020204030204" pitchFamily="34" charset="0"/>
                <a:cs typeface="Calibri" panose="020F0502020204030204" pitchFamily="34" charset="0"/>
              </a:rPr>
              <a:t>Dirección web, FTP, acceso a BD.</a:t>
            </a:r>
          </a:p>
          <a:p>
            <a:pPr lvl="1"/>
            <a:r>
              <a:rPr lang="es-CL" sz="1350" dirty="0">
                <a:latin typeface="Calibri" panose="020F0502020204030204" pitchFamily="34" charset="0"/>
                <a:cs typeface="Calibri" panose="020F0502020204030204" pitchFamily="34" charset="0"/>
              </a:rPr>
              <a:t>Protocolo (http, https) + nombre del recurso</a:t>
            </a:r>
          </a:p>
          <a:p>
            <a:pPr lvl="2"/>
            <a:r>
              <a:rPr lang="es-CL" sz="1350" dirty="0">
                <a:latin typeface="Calibri" panose="020F0502020204030204" pitchFamily="34" charset="0"/>
                <a:cs typeface="Calibri" panose="020F0502020204030204" pitchFamily="34" charset="0"/>
              </a:rPr>
              <a:t>HTTP: protocolo de comunicación que permite transferencias de información a través de archivos en la WWW</a:t>
            </a:r>
          </a:p>
          <a:p>
            <a:pPr lvl="2"/>
            <a:r>
              <a:rPr lang="es-CL" sz="1350" dirty="0">
                <a:latin typeface="Calibri" panose="020F0502020204030204" pitchFamily="34" charset="0"/>
                <a:cs typeface="Calibri" panose="020F0502020204030204" pitchFamily="34" charset="0"/>
              </a:rPr>
              <a:t>HTTPS: versión más segura</a:t>
            </a:r>
          </a:p>
          <a:p>
            <a:pPr lvl="1"/>
            <a:r>
              <a:rPr lang="es-CL" sz="1350" b="1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  <a:cs typeface="Calibri" panose="020F0502020204030204" pitchFamily="34" charset="0"/>
              </a:rPr>
              <a:t>requests</a:t>
            </a:r>
            <a:r>
              <a:rPr lang="es-CL" sz="135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s-CL" sz="135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L" sz="1350" dirty="0">
                <a:latin typeface="Calibri" panose="020F0502020204030204" pitchFamily="34" charset="0"/>
                <a:cs typeface="Calibri" panose="020F0502020204030204" pitchFamily="34" charset="0"/>
              </a:rPr>
              <a:t>implementa solicitudes HTTP (GET, POST) para acceder al código fuente de una página web (HTML, </a:t>
            </a:r>
            <a:r>
              <a:rPr lang="es-CL" sz="1350" b="1" dirty="0" err="1"/>
              <a:t>HyperText</a:t>
            </a:r>
            <a:r>
              <a:rPr lang="es-CL" sz="1350" b="1" dirty="0"/>
              <a:t> </a:t>
            </a:r>
            <a:r>
              <a:rPr lang="es-CL" sz="1350" b="1" dirty="0" err="1"/>
              <a:t>Markup</a:t>
            </a:r>
            <a:r>
              <a:rPr lang="es-CL" sz="1350" b="1" dirty="0"/>
              <a:t> </a:t>
            </a:r>
            <a:r>
              <a:rPr lang="es-CL" sz="1350" b="1" dirty="0" err="1"/>
              <a:t>Language</a:t>
            </a:r>
            <a:r>
              <a:rPr lang="es-CL" sz="135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s-CL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CL" sz="16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71525" lvl="2" indent="0">
              <a:buNone/>
            </a:pPr>
            <a:endParaRPr lang="es-CL" sz="1350" dirty="0">
              <a:latin typeface="Courier" pitchFamily="2" charset="0"/>
              <a:cs typeface="Calibri" panose="020F0502020204030204" pitchFamily="34" charset="0"/>
            </a:endParaRPr>
          </a:p>
          <a:p>
            <a:pPr lvl="1"/>
            <a:endParaRPr lang="es-CL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0597264-BF82-E148-95DF-291A83636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431" y="3747752"/>
            <a:ext cx="3239763" cy="126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402A6372-3B45-954E-BA7E-2FD601C9E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254" y="3878993"/>
            <a:ext cx="1026419" cy="113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75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F8A7692-25D2-934D-A80D-B52E20C6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Data en la Web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FEE7672-57D8-C647-8BBB-15AB34DB75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31173" y="558663"/>
            <a:ext cx="6464977" cy="4026174"/>
          </a:xfrm>
        </p:spPr>
        <p:txBody>
          <a:bodyPr>
            <a:normAutofit/>
          </a:bodyPr>
          <a:lstStyle/>
          <a:p>
            <a:pPr>
              <a:buClr>
                <a:schemeClr val="accent4"/>
              </a:buClr>
            </a:pPr>
            <a:r>
              <a:rPr lang="es-CL" sz="1350" b="1" dirty="0" err="1">
                <a:solidFill>
                  <a:schemeClr val="accent2">
                    <a:lumMod val="75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Scraping</a:t>
            </a:r>
            <a:r>
              <a:rPr lang="es-CL" sz="1350" b="1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: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técnica para extraer información de sitios web en forma automática.</a:t>
            </a:r>
          </a:p>
          <a:p>
            <a:pPr lvl="1">
              <a:buClr>
                <a:schemeClr val="accent4"/>
              </a:buClr>
            </a:pPr>
            <a:r>
              <a:rPr lang="es-CL" sz="1350" b="1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  <a:cs typeface="Calibri" panose="020F0502020204030204" pitchFamily="34" charset="0"/>
              </a:rPr>
              <a:t>requests</a:t>
            </a:r>
            <a:r>
              <a:rPr lang="es-CL" sz="1350" b="1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  <a:cs typeface="Calibri" panose="020F0502020204030204" pitchFamily="34" charset="0"/>
              </a:rPr>
              <a:t>: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implementa solicitudes HTTP (GET, POST) para acceder al código fuente de una página web.</a:t>
            </a:r>
          </a:p>
          <a:p>
            <a:pPr lvl="1">
              <a:buClr>
                <a:schemeClr val="accent4"/>
              </a:buClr>
            </a:pPr>
            <a:r>
              <a:rPr lang="es-CL" sz="1350" b="1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  <a:cs typeface="Calibri" panose="020F0502020204030204" pitchFamily="34" charset="0"/>
              </a:rPr>
              <a:t>BeautifulSoup</a:t>
            </a:r>
            <a:r>
              <a:rPr lang="es-CL" sz="1350" b="1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  <a:cs typeface="Calibri" panose="020F0502020204030204" pitchFamily="34" charset="0"/>
              </a:rPr>
              <a:t>: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</a:t>
            </a: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parsing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de data HTML y XML para extraer data estructurada</a:t>
            </a:r>
          </a:p>
          <a:p>
            <a:pPr lvl="2">
              <a:buClr>
                <a:schemeClr val="accent4"/>
              </a:buClr>
            </a:pPr>
            <a:r>
              <a:rPr lang="es-CL" sz="1050" dirty="0" err="1">
                <a:latin typeface="Courier" pitchFamily="2" charset="0"/>
                <a:cs typeface="Calibri" panose="020F0502020204030204" pitchFamily="34" charset="0"/>
              </a:rPr>
              <a:t>Soup.prettify</a:t>
            </a:r>
            <a:r>
              <a:rPr lang="es-CL" sz="1050" dirty="0">
                <a:latin typeface="Courier" pitchFamily="2" charset="0"/>
                <a:cs typeface="Calibri" panose="020F0502020204030204" pitchFamily="34" charset="0"/>
              </a:rPr>
              <a:t>()</a:t>
            </a:r>
          </a:p>
          <a:p>
            <a:pPr lvl="2">
              <a:buClr>
                <a:schemeClr val="accent4"/>
              </a:buClr>
            </a:pPr>
            <a:r>
              <a:rPr lang="es-CL" sz="1050" dirty="0" err="1">
                <a:latin typeface="Courier" pitchFamily="2" charset="0"/>
                <a:cs typeface="Calibri" panose="020F0502020204030204" pitchFamily="34" charset="0"/>
              </a:rPr>
              <a:t>Soup.get_text</a:t>
            </a:r>
            <a:r>
              <a:rPr lang="es-CL" sz="1050" dirty="0">
                <a:latin typeface="Courier" pitchFamily="2" charset="0"/>
                <a:cs typeface="Calibri" panose="020F0502020204030204" pitchFamily="34" charset="0"/>
              </a:rPr>
              <a:t>()</a:t>
            </a:r>
          </a:p>
          <a:p>
            <a:pPr lvl="2">
              <a:buClr>
                <a:schemeClr val="accent4"/>
              </a:buClr>
            </a:pPr>
            <a:r>
              <a:rPr lang="es-CL" sz="1050" dirty="0" err="1">
                <a:latin typeface="Courier" pitchFamily="2" charset="0"/>
                <a:cs typeface="Calibri" panose="020F0502020204030204" pitchFamily="34" charset="0"/>
              </a:rPr>
              <a:t>Soup.find_all</a:t>
            </a:r>
            <a:r>
              <a:rPr lang="es-CL" sz="1050" dirty="0">
                <a:latin typeface="Courier" pitchFamily="2" charset="0"/>
                <a:cs typeface="Calibri" panose="020F0502020204030204" pitchFamily="34" charset="0"/>
              </a:rPr>
              <a:t>()</a:t>
            </a:r>
          </a:p>
          <a:p>
            <a:pPr lvl="1"/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40BB83F-A291-004A-AC4A-1831005713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53"/>
          <a:stretch/>
        </p:blipFill>
        <p:spPr bwMode="auto">
          <a:xfrm>
            <a:off x="2403847" y="2571750"/>
            <a:ext cx="4022711" cy="195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6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F8A7692-25D2-934D-A80D-B52E20C6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Data en la Web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FEE7672-57D8-C647-8BBB-15AB34DB75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31173" y="558663"/>
            <a:ext cx="6464977" cy="4026174"/>
          </a:xfrm>
        </p:spPr>
        <p:txBody>
          <a:bodyPr>
            <a:normAutofit/>
          </a:bodyPr>
          <a:lstStyle/>
          <a:p>
            <a:pPr>
              <a:buClr>
                <a:schemeClr val="accent4"/>
              </a:buClr>
            </a:pPr>
            <a:r>
              <a:rPr lang="es-CL" sz="1350" b="1" dirty="0" err="1">
                <a:solidFill>
                  <a:schemeClr val="accent2">
                    <a:lumMod val="75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Scraping</a:t>
            </a:r>
            <a:r>
              <a:rPr lang="es-CL" sz="1350" b="1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: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técnica para extraer información de sitios web en forma automática.</a:t>
            </a:r>
          </a:p>
          <a:p>
            <a:pPr lvl="1">
              <a:buClr>
                <a:schemeClr val="accent4"/>
              </a:buClr>
            </a:pPr>
            <a:r>
              <a:rPr lang="es-CL" sz="1350" b="1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  <a:cs typeface="Calibri" panose="020F0502020204030204" pitchFamily="34" charset="0"/>
              </a:rPr>
              <a:t>requests</a:t>
            </a:r>
            <a:r>
              <a:rPr lang="es-CL" sz="1350" b="1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  <a:cs typeface="Calibri" panose="020F0502020204030204" pitchFamily="34" charset="0"/>
              </a:rPr>
              <a:t>: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implementa solicitudes HTTP (GET, POST) para acceder al código fuente de una página web.</a:t>
            </a:r>
          </a:p>
          <a:p>
            <a:pPr lvl="1">
              <a:buClr>
                <a:schemeClr val="accent4"/>
              </a:buClr>
            </a:pPr>
            <a:r>
              <a:rPr lang="es-CL" sz="1350" b="1" dirty="0" err="1">
                <a:solidFill>
                  <a:schemeClr val="accent1">
                    <a:lumMod val="75000"/>
                  </a:schemeClr>
                </a:solidFill>
                <a:latin typeface="Courier" pitchFamily="2" charset="0"/>
                <a:cs typeface="Calibri" panose="020F0502020204030204" pitchFamily="34" charset="0"/>
              </a:rPr>
              <a:t>BeautifulSoup</a:t>
            </a:r>
            <a:r>
              <a:rPr lang="es-CL" sz="1350" b="1" dirty="0">
                <a:solidFill>
                  <a:schemeClr val="accent1">
                    <a:lumMod val="75000"/>
                  </a:schemeClr>
                </a:solidFill>
                <a:latin typeface="Courier" pitchFamily="2" charset="0"/>
                <a:cs typeface="Calibri" panose="020F0502020204030204" pitchFamily="34" charset="0"/>
              </a:rPr>
              <a:t>: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</a:t>
            </a: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parsing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de data HTML y XML para extraer data estructurada</a:t>
            </a:r>
          </a:p>
          <a:p>
            <a:pPr lvl="2">
              <a:buClr>
                <a:schemeClr val="accent4"/>
              </a:buClr>
            </a:pPr>
            <a:r>
              <a:rPr lang="es-CL" sz="1050" dirty="0" err="1">
                <a:latin typeface="Courier" pitchFamily="2" charset="0"/>
                <a:cs typeface="Calibri" panose="020F0502020204030204" pitchFamily="34" charset="0"/>
              </a:rPr>
              <a:t>Soup.prettify</a:t>
            </a:r>
            <a:r>
              <a:rPr lang="es-CL" sz="1050" dirty="0">
                <a:latin typeface="Courier" pitchFamily="2" charset="0"/>
                <a:cs typeface="Calibri" panose="020F0502020204030204" pitchFamily="34" charset="0"/>
              </a:rPr>
              <a:t>()</a:t>
            </a:r>
          </a:p>
          <a:p>
            <a:pPr lvl="2">
              <a:buClr>
                <a:schemeClr val="accent4"/>
              </a:buClr>
            </a:pPr>
            <a:r>
              <a:rPr lang="es-CL" sz="1050" dirty="0" err="1">
                <a:latin typeface="Courier" pitchFamily="2" charset="0"/>
                <a:cs typeface="Calibri" panose="020F0502020204030204" pitchFamily="34" charset="0"/>
              </a:rPr>
              <a:t>Soup.get_text</a:t>
            </a:r>
            <a:r>
              <a:rPr lang="es-CL" sz="1050" dirty="0">
                <a:latin typeface="Courier" pitchFamily="2" charset="0"/>
                <a:cs typeface="Calibri" panose="020F0502020204030204" pitchFamily="34" charset="0"/>
              </a:rPr>
              <a:t>()</a:t>
            </a:r>
          </a:p>
          <a:p>
            <a:pPr lvl="2">
              <a:buClr>
                <a:schemeClr val="accent4"/>
              </a:buClr>
            </a:pPr>
            <a:r>
              <a:rPr lang="es-CL" sz="1050" dirty="0" err="1">
                <a:latin typeface="Courier" pitchFamily="2" charset="0"/>
                <a:cs typeface="Calibri" panose="020F0502020204030204" pitchFamily="34" charset="0"/>
              </a:rPr>
              <a:t>Soup.find_all</a:t>
            </a:r>
            <a:r>
              <a:rPr lang="es-CL" sz="1050" dirty="0">
                <a:latin typeface="Courier" pitchFamily="2" charset="0"/>
                <a:cs typeface="Calibri" panose="020F0502020204030204" pitchFamily="34" charset="0"/>
              </a:rPr>
              <a:t>()</a:t>
            </a:r>
          </a:p>
          <a:p>
            <a:pPr lvl="1"/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40BB83F-A291-004A-AC4A-1831005713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53"/>
          <a:stretch/>
        </p:blipFill>
        <p:spPr bwMode="auto">
          <a:xfrm>
            <a:off x="2403847" y="2571750"/>
            <a:ext cx="4022711" cy="195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196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F8A7692-25D2-934D-A80D-B52E20C6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Data en la Web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FEE7672-57D8-C647-8BBB-15AB34DB75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31173" y="558663"/>
            <a:ext cx="6464977" cy="4026174"/>
          </a:xfrm>
        </p:spPr>
        <p:txBody>
          <a:bodyPr>
            <a:normAutofit/>
          </a:bodyPr>
          <a:lstStyle/>
          <a:p>
            <a:pPr>
              <a:buClr>
                <a:schemeClr val="accent4"/>
              </a:buClr>
            </a:pPr>
            <a:r>
              <a:rPr lang="es-CL" sz="1350" b="1" dirty="0" err="1">
                <a:solidFill>
                  <a:schemeClr val="accent2">
                    <a:lumMod val="75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Scraping</a:t>
            </a:r>
            <a:r>
              <a:rPr lang="es-CL" sz="1350" b="1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: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técnica para extraer información de sitios web en forma automática.</a:t>
            </a:r>
          </a:p>
          <a:p>
            <a:pPr lvl="1"/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B736044-298E-7846-8038-4C5082A83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76"/>
          <a:stretch/>
        </p:blipFill>
        <p:spPr bwMode="auto">
          <a:xfrm>
            <a:off x="1447591" y="1159743"/>
            <a:ext cx="2931227" cy="195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BeautifulSoup - An Overview">
            <a:extLst>
              <a:ext uri="{FF2B5EF4-FFF2-40B4-BE49-F238E27FC236}">
                <a16:creationId xmlns:a16="http://schemas.microsoft.com/office/drawing/2014/main" id="{4197929C-3FE2-954B-8DF6-10862C366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661" y="1213647"/>
            <a:ext cx="3429657" cy="1529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7A0629E-BAFB-BF43-9927-2F4F6DFE5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515" y="3062791"/>
            <a:ext cx="3557396" cy="184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95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F8A7692-25D2-934D-A80D-B52E20C6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Data en la Web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FEE7672-57D8-C647-8BBB-15AB34DB75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31174" y="756588"/>
            <a:ext cx="6032322" cy="4026174"/>
          </a:xfrm>
        </p:spPr>
        <p:txBody>
          <a:bodyPr>
            <a:normAutofit/>
          </a:bodyPr>
          <a:lstStyle/>
          <a:p>
            <a:pPr>
              <a:buClr>
                <a:schemeClr val="accent4"/>
              </a:buClr>
            </a:pPr>
            <a:r>
              <a:rPr lang="es-CL" sz="1350" b="1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API: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</a:t>
            </a: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Application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</a:t>
            </a: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Programming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Interface</a:t>
            </a:r>
          </a:p>
          <a:p>
            <a:pPr lvl="1">
              <a:buClr>
                <a:schemeClr val="accent4"/>
              </a:buClr>
            </a:pP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Conjunto de protocolos y rutinas para interactuar con aplicaciones de software ( o entre softwares)</a:t>
            </a:r>
          </a:p>
          <a:p>
            <a:pPr lvl="1">
              <a:buClr>
                <a:schemeClr val="accent4"/>
              </a:buClr>
            </a:pP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Reciben solicitudes y entregan datos en formato leíble por máquinas (JSON).</a:t>
            </a:r>
          </a:p>
          <a:p>
            <a:pPr lvl="1">
              <a:buClr>
                <a:schemeClr val="accent4"/>
              </a:buClr>
            </a:pPr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  <a:p>
            <a:pPr lvl="1">
              <a:buClr>
                <a:schemeClr val="accent4"/>
              </a:buClr>
            </a:pPr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  <a:p>
            <a:pPr lvl="1"/>
            <a:endParaRPr lang="es-CL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D422435-F6F3-054A-B24B-A959D29F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688" y="3187861"/>
            <a:ext cx="2783312" cy="184381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42A2C8D-3EB9-934A-A31E-A1CC9D202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399" y="2115355"/>
            <a:ext cx="3822289" cy="146714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E7E3D17-B6BB-6649-9C4B-2F7810E07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788" y="3626123"/>
            <a:ext cx="3018666" cy="1394163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1D8E5FD8-E9FC-1240-B21C-80F3CBE499F9}"/>
              </a:ext>
            </a:extLst>
          </p:cNvPr>
          <p:cNvSpPr/>
          <p:nvPr/>
        </p:nvSpPr>
        <p:spPr>
          <a:xfrm>
            <a:off x="1395399" y="2405130"/>
            <a:ext cx="3822289" cy="166621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</p:spTree>
    <p:extLst>
      <p:ext uri="{BB962C8B-B14F-4D97-AF65-F5344CB8AC3E}">
        <p14:creationId xmlns:p14="http://schemas.microsoft.com/office/powerpoint/2010/main" val="2020908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F8A7692-25D2-934D-A80D-B52E20C6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Data en la Web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FEE7672-57D8-C647-8BBB-15AB34DB75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31174" y="756588"/>
            <a:ext cx="6032322" cy="4026174"/>
          </a:xfrm>
        </p:spPr>
        <p:txBody>
          <a:bodyPr>
            <a:normAutofit/>
          </a:bodyPr>
          <a:lstStyle/>
          <a:p>
            <a:pPr>
              <a:buClr>
                <a:schemeClr val="accent4"/>
              </a:buClr>
            </a:pPr>
            <a:r>
              <a:rPr lang="es-CL" sz="1350" b="1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API: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</a:t>
            </a: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Application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</a:t>
            </a: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Programming</a:t>
            </a: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 Interface</a:t>
            </a:r>
          </a:p>
          <a:p>
            <a:pPr lvl="1">
              <a:buClr>
                <a:schemeClr val="accent4"/>
              </a:buClr>
            </a:pP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Algunas requieren </a:t>
            </a: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key</a:t>
            </a:r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  <a:p>
            <a:pPr lvl="1">
              <a:buClr>
                <a:schemeClr val="accent4"/>
              </a:buClr>
            </a:pPr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  <a:p>
            <a:pPr lvl="1">
              <a:buClr>
                <a:schemeClr val="accent4"/>
              </a:buClr>
            </a:pPr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  <a:p>
            <a:pPr lvl="1">
              <a:buClr>
                <a:schemeClr val="accent4"/>
              </a:buClr>
            </a:pPr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  <a:p>
            <a:pPr lvl="1"/>
            <a:endParaRPr lang="es-CL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D422435-F6F3-054A-B24B-A959D29F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688" y="3187861"/>
            <a:ext cx="2783312" cy="184381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42A2C8D-3EB9-934A-A31E-A1CC9D202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399" y="2115355"/>
            <a:ext cx="3822289" cy="146714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E7E3D17-B6BB-6649-9C4B-2F7810E07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788" y="3626123"/>
            <a:ext cx="3018666" cy="1394163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1D8E5FD8-E9FC-1240-B21C-80F3CBE499F9}"/>
              </a:ext>
            </a:extLst>
          </p:cNvPr>
          <p:cNvSpPr/>
          <p:nvPr/>
        </p:nvSpPr>
        <p:spPr>
          <a:xfrm>
            <a:off x="1395399" y="2405130"/>
            <a:ext cx="3822289" cy="166621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</p:spTree>
    <p:extLst>
      <p:ext uri="{BB962C8B-B14F-4D97-AF65-F5344CB8AC3E}">
        <p14:creationId xmlns:p14="http://schemas.microsoft.com/office/powerpoint/2010/main" val="70490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F8A7692-25D2-934D-A80D-B52E20C6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Bases de Datos Relacionales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FEE7672-57D8-C647-8BBB-15AB34DB75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31173" y="756588"/>
            <a:ext cx="3706936" cy="4026174"/>
          </a:xfrm>
        </p:spPr>
        <p:txBody>
          <a:bodyPr>
            <a:normAutofit/>
          </a:bodyPr>
          <a:lstStyle/>
          <a:p>
            <a:pPr>
              <a:buClr>
                <a:schemeClr val="accent4"/>
              </a:buClr>
            </a:pPr>
            <a:r>
              <a:rPr lang="es-CL" sz="1350" dirty="0">
                <a:latin typeface="Montserrat" pitchFamily="2" charset="77"/>
              </a:rPr>
              <a:t>Base de datos formada por tablas relacionadas entre sí.</a:t>
            </a:r>
          </a:p>
          <a:p>
            <a:pPr lvl="1">
              <a:buClr>
                <a:schemeClr val="accent4"/>
              </a:buClr>
            </a:pPr>
            <a:r>
              <a:rPr lang="es-CL" sz="135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Tabla</a:t>
            </a:r>
            <a:r>
              <a:rPr lang="es-CL" sz="1350" dirty="0">
                <a:latin typeface="Montserrat" pitchFamily="2" charset="77"/>
              </a:rPr>
              <a:t> </a:t>
            </a:r>
            <a:r>
              <a:rPr lang="es-CL" sz="13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  <a:sym typeface="Wingdings" pitchFamily="2" charset="2"/>
              </a:rPr>
              <a:t></a:t>
            </a:r>
            <a:r>
              <a:rPr lang="es-CL" sz="1350" dirty="0">
                <a:latin typeface="Montserrat" pitchFamily="2" charset="77"/>
                <a:sym typeface="Wingdings" pitchFamily="2" charset="2"/>
              </a:rPr>
              <a:t> un tipo de entidad</a:t>
            </a:r>
          </a:p>
          <a:p>
            <a:pPr lvl="1">
              <a:buClr>
                <a:schemeClr val="accent4"/>
              </a:buClr>
            </a:pPr>
            <a:r>
              <a:rPr lang="es-CL" sz="135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  <a:sym typeface="Wingdings" pitchFamily="2" charset="2"/>
              </a:rPr>
              <a:t>Fila</a:t>
            </a:r>
            <a:r>
              <a:rPr lang="es-CL" sz="1350" dirty="0">
                <a:latin typeface="Montserrat" pitchFamily="2" charset="77"/>
                <a:sym typeface="Wingdings" pitchFamily="2" charset="2"/>
              </a:rPr>
              <a:t> </a:t>
            </a:r>
            <a:r>
              <a:rPr lang="es-CL" sz="13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  <a:sym typeface="Wingdings" pitchFamily="2" charset="2"/>
              </a:rPr>
              <a:t></a:t>
            </a:r>
            <a:r>
              <a:rPr lang="es-CL" sz="1350" dirty="0">
                <a:latin typeface="Montserrat" pitchFamily="2" charset="77"/>
                <a:sym typeface="Wingdings" pitchFamily="2" charset="2"/>
              </a:rPr>
              <a:t> una instancia de una entidad, con un identificador único.</a:t>
            </a:r>
          </a:p>
          <a:p>
            <a:pPr lvl="1">
              <a:buClr>
                <a:schemeClr val="accent4"/>
              </a:buClr>
            </a:pPr>
            <a:r>
              <a:rPr lang="es-CL" sz="135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  <a:sym typeface="Wingdings" pitchFamily="2" charset="2"/>
              </a:rPr>
              <a:t>Columna</a:t>
            </a:r>
            <a:r>
              <a:rPr lang="es-CL" sz="1350" dirty="0">
                <a:latin typeface="Montserrat" pitchFamily="2" charset="77"/>
                <a:sym typeface="Wingdings" pitchFamily="2" charset="2"/>
              </a:rPr>
              <a:t> </a:t>
            </a:r>
            <a:r>
              <a:rPr lang="es-CL" sz="13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  <a:sym typeface="Wingdings" pitchFamily="2" charset="2"/>
              </a:rPr>
              <a:t></a:t>
            </a:r>
            <a:r>
              <a:rPr lang="es-CL" sz="1350" dirty="0">
                <a:latin typeface="Montserrat" pitchFamily="2" charset="77"/>
                <a:sym typeface="Wingdings" pitchFamily="2" charset="2"/>
              </a:rPr>
              <a:t> un atributo de una instancia.</a:t>
            </a:r>
          </a:p>
          <a:p>
            <a:pPr lvl="1">
              <a:buClr>
                <a:schemeClr val="accent4"/>
              </a:buClr>
            </a:pPr>
            <a:endParaRPr lang="es-CL" sz="1350" dirty="0">
              <a:latin typeface="Montserrat" pitchFamily="2" charset="77"/>
            </a:endParaRPr>
          </a:p>
          <a:p>
            <a:pPr>
              <a:buClr>
                <a:schemeClr val="accent4"/>
              </a:buClr>
            </a:pPr>
            <a:r>
              <a:rPr lang="es-CL" sz="1350" dirty="0">
                <a:latin typeface="Montserrat" pitchFamily="2" charset="77"/>
              </a:rPr>
              <a:t>Se usa lenguaje SQL (</a:t>
            </a:r>
            <a:r>
              <a:rPr lang="es-CL" sz="1350" dirty="0" err="1">
                <a:latin typeface="Montserrat" pitchFamily="2" charset="77"/>
              </a:rPr>
              <a:t>Structured</a:t>
            </a:r>
            <a:r>
              <a:rPr lang="es-CL" sz="1350" dirty="0">
                <a:latin typeface="Montserrat" pitchFamily="2" charset="77"/>
              </a:rPr>
              <a:t> </a:t>
            </a:r>
            <a:r>
              <a:rPr lang="es-CL" sz="1350" dirty="0" err="1">
                <a:latin typeface="Montserrat" pitchFamily="2" charset="77"/>
              </a:rPr>
              <a:t>Query</a:t>
            </a:r>
            <a:r>
              <a:rPr lang="es-CL" sz="1350" dirty="0">
                <a:latin typeface="Montserrat" pitchFamily="2" charset="77"/>
              </a:rPr>
              <a:t> </a:t>
            </a:r>
            <a:r>
              <a:rPr lang="es-CL" sz="1350" dirty="0" err="1">
                <a:latin typeface="Montserrat" pitchFamily="2" charset="77"/>
              </a:rPr>
              <a:t>Language</a:t>
            </a:r>
            <a:r>
              <a:rPr lang="es-CL" sz="1350" dirty="0">
                <a:latin typeface="Montserrat" pitchFamily="2" charset="77"/>
              </a:rPr>
              <a:t>) para consultar y actualizar la data.</a:t>
            </a:r>
          </a:p>
          <a:p>
            <a:pPr>
              <a:buClr>
                <a:schemeClr val="accent4"/>
              </a:buClr>
            </a:pPr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  <a:p>
            <a:pPr>
              <a:buClr>
                <a:schemeClr val="accent4"/>
              </a:buClr>
            </a:pPr>
            <a:r>
              <a:rPr lang="es-CL" sz="1350" dirty="0">
                <a:latin typeface="Montserrat" pitchFamily="2" charset="77"/>
                <a:cs typeface="Calibri" panose="020F0502020204030204" pitchFamily="34" charset="0"/>
              </a:rPr>
              <a:t>Ejemplos:</a:t>
            </a:r>
          </a:p>
          <a:p>
            <a:pPr lvl="1">
              <a:buClr>
                <a:schemeClr val="accent4"/>
              </a:buClr>
            </a:pP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PostgreSQL</a:t>
            </a:r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  <a:p>
            <a:pPr lvl="1">
              <a:buClr>
                <a:schemeClr val="accent4"/>
              </a:buClr>
            </a:pP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MySQL</a:t>
            </a:r>
            <a:endParaRPr lang="es-CL" sz="1350" dirty="0">
              <a:latin typeface="Montserrat" pitchFamily="2" charset="77"/>
              <a:cs typeface="Calibri" panose="020F0502020204030204" pitchFamily="34" charset="0"/>
            </a:endParaRPr>
          </a:p>
          <a:p>
            <a:pPr lvl="1">
              <a:buClr>
                <a:schemeClr val="accent4"/>
              </a:buClr>
            </a:pPr>
            <a:r>
              <a:rPr lang="es-CL" sz="1350" dirty="0" err="1">
                <a:latin typeface="Montserrat" pitchFamily="2" charset="77"/>
                <a:cs typeface="Calibri" panose="020F0502020204030204" pitchFamily="34" charset="0"/>
              </a:rPr>
              <a:t>SQLite</a:t>
            </a:r>
            <a:endParaRPr lang="es-CL" sz="13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lr>
                <a:schemeClr val="accent4"/>
              </a:buClr>
            </a:pPr>
            <a:endParaRPr lang="es-CL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C199C2A-F549-B14E-9D19-AF4E495C32CF}"/>
              </a:ext>
            </a:extLst>
          </p:cNvPr>
          <p:cNvGrpSpPr/>
          <p:nvPr/>
        </p:nvGrpSpPr>
        <p:grpSpPr>
          <a:xfrm>
            <a:off x="4928523" y="756589"/>
            <a:ext cx="3072477" cy="3879806"/>
            <a:chOff x="5341392" y="2545555"/>
            <a:chExt cx="3223058" cy="4069954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C908C0E7-5CFC-2646-9683-901B4B261E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48878"/>
            <a:stretch/>
          </p:blipFill>
          <p:spPr>
            <a:xfrm>
              <a:off x="5341392" y="2545555"/>
              <a:ext cx="3087830" cy="2633805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619F091B-4F2E-B84F-8CC0-81120FE01A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0782" t="18096" b="23716"/>
            <a:stretch/>
          </p:blipFill>
          <p:spPr>
            <a:xfrm>
              <a:off x="5591577" y="5082923"/>
              <a:ext cx="2972873" cy="15325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02070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marL="85723" indent="0" algn="r">
          <a:buNone/>
          <a:defRPr sz="1200" dirty="0" err="1">
            <a:latin typeface="Lato Light" panose="020F0502020204030203" pitchFamily="34" charset="0"/>
            <a:ea typeface="Lato Light" panose="020F0502020204030203" pitchFamily="34" charset="0"/>
            <a:cs typeface="Lato Light" panose="020F0502020204030203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</TotalTime>
  <Words>384</Words>
  <Application>Microsoft Macintosh PowerPoint</Application>
  <PresentationFormat>Presentación en pantalla (16:9)</PresentationFormat>
  <Paragraphs>61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8" baseType="lpstr">
      <vt:lpstr>Arial</vt:lpstr>
      <vt:lpstr>Calibri</vt:lpstr>
      <vt:lpstr>Calibri Light</vt:lpstr>
      <vt:lpstr>Century Gothic</vt:lpstr>
      <vt:lpstr>Courier</vt:lpstr>
      <vt:lpstr>Lato Light</vt:lpstr>
      <vt:lpstr>Montserrat</vt:lpstr>
      <vt:lpstr>Montserrat SemiBold</vt:lpstr>
      <vt:lpstr>Wingdings</vt:lpstr>
      <vt:lpstr>Tema de Office</vt:lpstr>
      <vt:lpstr>FUENTES DE DATOS</vt:lpstr>
      <vt:lpstr>Data en la Web</vt:lpstr>
      <vt:lpstr>Data en la Web</vt:lpstr>
      <vt:lpstr>Data en la Web</vt:lpstr>
      <vt:lpstr>Data en la Web</vt:lpstr>
      <vt:lpstr>Data en la Web</vt:lpstr>
      <vt:lpstr>Data en la Web</vt:lpstr>
      <vt:lpstr>Bases de Datos Relacionales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Aguirre</dc:creator>
  <cp:lastModifiedBy>Paula Aguirre</cp:lastModifiedBy>
  <cp:revision>16</cp:revision>
  <dcterms:created xsi:type="dcterms:W3CDTF">2021-06-23T16:21:49Z</dcterms:created>
  <dcterms:modified xsi:type="dcterms:W3CDTF">2021-06-23T19:11:07Z</dcterms:modified>
</cp:coreProperties>
</file>